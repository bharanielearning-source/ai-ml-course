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0" r:id="rId5"/>
    <p:sldId id="271" r:id="rId6"/>
    <p:sldId id="272" r:id="rId7"/>
    <p:sldId id="259" r:id="rId8"/>
    <p:sldId id="260" r:id="rId9"/>
    <p:sldId id="261" r:id="rId10"/>
    <p:sldId id="262" r:id="rId11"/>
    <p:sldId id="267" r:id="rId12"/>
    <p:sldId id="268" r:id="rId13"/>
    <p:sldId id="273" r:id="rId14"/>
    <p:sldId id="274" r:id="rId15"/>
    <p:sldId id="275" r:id="rId16"/>
    <p:sldId id="276" r:id="rId17"/>
    <p:sldId id="277" r:id="rId18"/>
    <p:sldId id="278" r:id="rId19"/>
    <p:sldId id="27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3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193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1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144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340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494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01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48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3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854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515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202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3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17AD0-A724-BC58-5E19-EBEBE1B531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Python Object Oriented Programming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4874D-0E15-39F7-3CCC-0B5B73AD63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Kunal Agarwal</a:t>
            </a:r>
          </a:p>
          <a:p>
            <a:r>
              <a:rPr lang="en-GB" dirty="0" err="1"/>
              <a:t>Aideas</a:t>
            </a:r>
            <a:r>
              <a:rPr lang="en-GB" dirty="0"/>
              <a:t> Academy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4278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97633-C083-0CD9-F421-4955A7616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E5A21B-9C7E-C979-E065-F70607EB4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04" y="758644"/>
            <a:ext cx="10226926" cy="584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942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9599-316B-6BD4-DEE5-770853504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8579FD00-22C3-FA0B-59F7-3441B39EF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215" y="254309"/>
            <a:ext cx="9228201" cy="1645920"/>
          </a:xfrm>
        </p:spPr>
        <p:txBody>
          <a:bodyPr/>
          <a:lstStyle/>
          <a:p>
            <a:r>
              <a:rPr lang="en-GB" dirty="0"/>
              <a:t>Concept and core functionality : OOP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39F7C9-A886-C14B-7615-A08A61BDD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30" y="850092"/>
            <a:ext cx="10158340" cy="57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633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CC09C-1BDC-1633-F775-31C552B90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F4D7D290-DD55-E747-27F4-2BC4B326A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215" y="254309"/>
            <a:ext cx="9228201" cy="1645920"/>
          </a:xfrm>
        </p:spPr>
        <p:txBody>
          <a:bodyPr/>
          <a:lstStyle/>
          <a:p>
            <a:r>
              <a:rPr lang="en-GB" dirty="0"/>
              <a:t>Concept and core functionality : OOP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8F2974-5668-441F-A14A-530F0C0DB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605" y="1009833"/>
            <a:ext cx="10028789" cy="553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060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0546D-5AE7-D914-54C5-ED8609982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BF09DCCA-9C35-1FA9-C29C-16E86FBE5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215" y="254309"/>
            <a:ext cx="9228201" cy="1645920"/>
          </a:xfrm>
        </p:spPr>
        <p:txBody>
          <a:bodyPr/>
          <a:lstStyle/>
          <a:p>
            <a:r>
              <a:rPr lang="en-GB" dirty="0"/>
              <a:t>Concept and core functionality : OOP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53CF54-8B4B-1F3F-E04F-4C6050474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605" y="1009833"/>
            <a:ext cx="10028789" cy="553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638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C5FB1-E0C1-7E20-E3ED-0949A6652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D37DAC-E1C0-9670-5C7F-C23459BD9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433" y="415029"/>
            <a:ext cx="10303133" cy="602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68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751AF-59F2-DB16-ED69-EB4AC0D75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 Creation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2B070-DFC7-7540-B664-01971D743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class Planet:</a:t>
            </a:r>
            <a:br>
              <a:rPr lang="en-IN" dirty="0"/>
            </a:br>
            <a:r>
              <a:rPr lang="en-IN" dirty="0"/>
              <a:t>def __</a:t>
            </a:r>
            <a:r>
              <a:rPr lang="en-IN" dirty="0" err="1"/>
              <a:t>init</a:t>
            </a:r>
            <a:r>
              <a:rPr lang="en-IN" dirty="0"/>
              <a:t>__(self, name, radius, </a:t>
            </a:r>
            <a:r>
              <a:rPr lang="en-IN" dirty="0" err="1"/>
              <a:t>distance_from_sun</a:t>
            </a:r>
            <a:r>
              <a:rPr lang="en-IN" dirty="0"/>
              <a:t>):</a:t>
            </a:r>
            <a:br>
              <a:rPr lang="en-IN" dirty="0"/>
            </a:br>
            <a:r>
              <a:rPr lang="en-IN" dirty="0"/>
              <a:t>self.name = name</a:t>
            </a:r>
            <a:br>
              <a:rPr lang="en-IN" dirty="0"/>
            </a:br>
            <a:r>
              <a:rPr lang="en-IN" dirty="0" err="1"/>
              <a:t>self.radius</a:t>
            </a:r>
            <a:r>
              <a:rPr lang="en-IN" dirty="0"/>
              <a:t> = radius # in </a:t>
            </a:r>
            <a:r>
              <a:rPr lang="en-IN" dirty="0" err="1"/>
              <a:t>kilometers</a:t>
            </a:r>
            <a:br>
              <a:rPr lang="en-IN" dirty="0"/>
            </a:br>
            <a:r>
              <a:rPr lang="en-IN" dirty="0" err="1"/>
              <a:t>self.distance_from_sun</a:t>
            </a:r>
            <a:r>
              <a:rPr lang="en-IN" dirty="0"/>
              <a:t> = </a:t>
            </a:r>
            <a:r>
              <a:rPr lang="en-IN" dirty="0" err="1"/>
              <a:t>distance_from_sun</a:t>
            </a:r>
            <a:r>
              <a:rPr lang="en-IN" dirty="0"/>
              <a:t> # in million km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def </a:t>
            </a:r>
            <a:r>
              <a:rPr lang="en-IN" dirty="0" err="1"/>
              <a:t>display_info</a:t>
            </a:r>
            <a:r>
              <a:rPr lang="en-IN" dirty="0"/>
              <a:t>(self):</a:t>
            </a:r>
            <a:br>
              <a:rPr lang="en-IN" dirty="0"/>
            </a:br>
            <a:r>
              <a:rPr lang="en-IN" dirty="0"/>
              <a:t>print("Planet Name:", self.name)</a:t>
            </a:r>
            <a:br>
              <a:rPr lang="en-IN" dirty="0"/>
            </a:br>
            <a:r>
              <a:rPr lang="en-IN" dirty="0"/>
              <a:t>print("Radius:", </a:t>
            </a:r>
            <a:r>
              <a:rPr lang="en-IN" dirty="0" err="1"/>
              <a:t>self.radius</a:t>
            </a:r>
            <a:r>
              <a:rPr lang="en-IN" dirty="0"/>
              <a:t>, "km")</a:t>
            </a:r>
            <a:br>
              <a:rPr lang="en-IN" dirty="0"/>
            </a:br>
            <a:r>
              <a:rPr lang="en-IN" dirty="0"/>
              <a:t>print("Distance from Sun:", </a:t>
            </a:r>
            <a:r>
              <a:rPr lang="en-IN" dirty="0" err="1"/>
              <a:t>self.distance_from_sun</a:t>
            </a:r>
            <a:r>
              <a:rPr lang="en-IN" dirty="0"/>
              <a:t>, "million km")</a:t>
            </a:r>
          </a:p>
        </p:txBody>
      </p:sp>
    </p:spTree>
    <p:extLst>
      <p:ext uri="{BB962C8B-B14F-4D97-AF65-F5344CB8AC3E}">
        <p14:creationId xmlns:p14="http://schemas.microsoft.com/office/powerpoint/2010/main" val="2202907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E33DF-3EC8-A96E-8A10-105449D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1888737" cy="1761886"/>
          </a:xfrm>
        </p:spPr>
        <p:txBody>
          <a:bodyPr/>
          <a:lstStyle/>
          <a:p>
            <a:r>
              <a:rPr lang="en-GB" dirty="0"/>
              <a:t>Object Creation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C0F96-C3B5-4D01-7345-3ECFE2B0D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1515344" cy="4025326"/>
          </a:xfrm>
        </p:spPr>
        <p:txBody>
          <a:bodyPr/>
          <a:lstStyle/>
          <a:p>
            <a:r>
              <a:rPr lang="en-GB" dirty="0"/>
              <a:t>earth = Planet("Earth", 6371, 149.6)</a:t>
            </a:r>
          </a:p>
          <a:p>
            <a:endParaRPr lang="en-GB" dirty="0"/>
          </a:p>
          <a:p>
            <a:r>
              <a:rPr lang="en-IN" dirty="0" err="1"/>
              <a:t>earth.display_info</a:t>
            </a:r>
            <a:r>
              <a:rPr lang="en-IN" dirty="0"/>
              <a:t>()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2637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06293-4D70-F952-E2DE-7A188F737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1B945336-B639-5B66-6DD8-7DDBF0C4EE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2138" y="2364056"/>
            <a:ext cx="524387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class Planet: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defines the blueprint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__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__()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constructor (initializes object data)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refers to the current object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earth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object created from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Planet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class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06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EB286-9BBF-EAD4-5A35-DD052DFB7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56B28F-D883-16BE-A892-25D9AC413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70" y="557296"/>
            <a:ext cx="10226926" cy="53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70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7A33A-822E-5D2A-934A-FF1BA80DB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BB67B1-6250-5283-5C58-B96443A7A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002" y="548390"/>
            <a:ext cx="10325995" cy="576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001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E7656-5A04-B7FD-3EE7-1DE3ED360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150398-B33C-9FAD-3838-CB1801E8952C}"/>
              </a:ext>
            </a:extLst>
          </p:cNvPr>
          <p:cNvSpPr txBox="1"/>
          <p:nvPr/>
        </p:nvSpPr>
        <p:spPr>
          <a:xfrm>
            <a:off x="229965" y="151179"/>
            <a:ext cx="122428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numbers = [10, 20, 30, 40]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/>
              <a:t>total = sum(numbers)</a:t>
            </a:r>
            <a:br>
              <a:rPr lang="en-GB" sz="2800" dirty="0"/>
            </a:br>
            <a:r>
              <a:rPr lang="en-GB" sz="2800" dirty="0"/>
              <a:t>print("Sum:", total)</a:t>
            </a:r>
          </a:p>
          <a:p>
            <a:endParaRPr lang="en-GB" sz="2800" dirty="0"/>
          </a:p>
          <a:p>
            <a:endParaRPr lang="en-GB" sz="2800" dirty="0"/>
          </a:p>
          <a:p>
            <a:r>
              <a:rPr lang="en-GB" sz="2800" dirty="0"/>
              <a:t>numbers = [10, 20, 30, 40]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/>
              <a:t>maximum = max(numbers)</a:t>
            </a:r>
            <a:br>
              <a:rPr lang="en-GB" sz="2800" dirty="0"/>
            </a:br>
            <a:r>
              <a:rPr lang="en-GB" sz="2800" dirty="0"/>
              <a:t>print("Maximum:", maximum)</a:t>
            </a:r>
          </a:p>
          <a:p>
            <a:endParaRPr lang="en-GB" sz="2800" dirty="0"/>
          </a:p>
          <a:p>
            <a:r>
              <a:rPr lang="en-GB" sz="2800" dirty="0"/>
              <a:t>numbers = [10, 20, 30, 40]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/>
              <a:t>minimum = min(numbers)</a:t>
            </a:r>
            <a:br>
              <a:rPr lang="en-GB" sz="2800" dirty="0"/>
            </a:br>
            <a:r>
              <a:rPr lang="en-GB" sz="2800" dirty="0"/>
              <a:t>print("Minimum:", minimum)</a:t>
            </a:r>
            <a:endParaRPr lang="en-IN" sz="2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ACE9EB-B08A-86F7-22AC-4416A126BD1F}"/>
              </a:ext>
            </a:extLst>
          </p:cNvPr>
          <p:cNvSpPr txBox="1"/>
          <p:nvPr/>
        </p:nvSpPr>
        <p:spPr>
          <a:xfrm>
            <a:off x="5251818" y="0"/>
            <a:ext cx="122428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numbers = [40, 10, 30, 20]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 err="1"/>
              <a:t>numbers.append</a:t>
            </a:r>
            <a:r>
              <a:rPr lang="en-GB" sz="2800" dirty="0"/>
              <a:t>(50)</a:t>
            </a:r>
            <a:br>
              <a:rPr lang="en-GB" sz="2800" dirty="0"/>
            </a:br>
            <a:r>
              <a:rPr lang="en-GB" sz="2800" dirty="0"/>
              <a:t>print("After Append:", numbers)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/>
              <a:t>print("Length:", </a:t>
            </a:r>
            <a:r>
              <a:rPr lang="en-GB" sz="2800" dirty="0" err="1"/>
              <a:t>len</a:t>
            </a:r>
            <a:r>
              <a:rPr lang="en-GB" sz="2800" dirty="0"/>
              <a:t>(numbers))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 err="1"/>
              <a:t>numbers.reverse</a:t>
            </a:r>
            <a:r>
              <a:rPr lang="en-GB" sz="2800" dirty="0"/>
              <a:t>()</a:t>
            </a:r>
            <a:br>
              <a:rPr lang="en-GB" sz="2800" dirty="0"/>
            </a:br>
            <a:r>
              <a:rPr lang="en-GB" sz="2800" dirty="0"/>
              <a:t>print("Reversed:", numbers)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 err="1"/>
              <a:t>numbers.sort</a:t>
            </a:r>
            <a:r>
              <a:rPr lang="en-GB" sz="2800" dirty="0"/>
              <a:t>()</a:t>
            </a:r>
            <a:br>
              <a:rPr lang="en-GB" sz="2800" dirty="0"/>
            </a:br>
            <a:r>
              <a:rPr lang="en-GB" sz="2800" dirty="0"/>
              <a:t>print("Sorted:", numbers)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1945309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F1F94-6E68-C170-B1FC-EBF34DCEE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8C3B3E-5348-1FA3-A7C8-549D71DA6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709" y="685322"/>
            <a:ext cx="10333615" cy="534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552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98E91-82BE-BB9B-01EA-22CE3FAF9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3BC3EB-72A1-DBCE-4A5F-E56A1EEFD0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628"/>
          <a:stretch>
            <a:fillRect/>
          </a:stretch>
        </p:blipFill>
        <p:spPr>
          <a:xfrm>
            <a:off x="913951" y="567442"/>
            <a:ext cx="10364098" cy="477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045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48E04-C6A1-EAFC-1404-7A2D77B0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EC6423-1448-D7E2-D1A0-7074989B409B}"/>
              </a:ext>
            </a:extLst>
          </p:cNvPr>
          <p:cNvSpPr txBox="1"/>
          <p:nvPr/>
        </p:nvSpPr>
        <p:spPr>
          <a:xfrm>
            <a:off x="229965" y="151179"/>
            <a:ext cx="122428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numbers = {40, 10, 30, 20}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/>
              <a:t>print("Sum:", sum(numbers))</a:t>
            </a:r>
            <a:br>
              <a:rPr lang="en-GB" sz="2800" dirty="0"/>
            </a:br>
            <a:r>
              <a:rPr lang="en-GB" sz="2800" dirty="0"/>
              <a:t>print("Max:", max(numbers))</a:t>
            </a:r>
            <a:br>
              <a:rPr lang="en-GB" sz="2800" dirty="0"/>
            </a:br>
            <a:r>
              <a:rPr lang="en-GB" sz="2800" dirty="0"/>
              <a:t>print("Min:", min(numbers))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 err="1"/>
              <a:t>numbers.add</a:t>
            </a:r>
            <a:r>
              <a:rPr lang="en-GB" sz="2800" dirty="0"/>
              <a:t>(50)</a:t>
            </a:r>
            <a:br>
              <a:rPr lang="en-GB" sz="2800" dirty="0"/>
            </a:br>
            <a:r>
              <a:rPr lang="en-GB" sz="2800" dirty="0"/>
              <a:t>print("After Add:", numbers)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/>
              <a:t>print("Length:", </a:t>
            </a:r>
            <a:r>
              <a:rPr lang="en-GB" sz="2800" dirty="0" err="1"/>
              <a:t>len</a:t>
            </a:r>
            <a:r>
              <a:rPr lang="en-GB" sz="2800" dirty="0"/>
              <a:t>(numbers))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 err="1"/>
              <a:t>numbers.remove</a:t>
            </a:r>
            <a:r>
              <a:rPr lang="en-GB" sz="2800" dirty="0"/>
              <a:t>(10)</a:t>
            </a:r>
            <a:br>
              <a:rPr lang="en-GB" sz="2800" dirty="0"/>
            </a:br>
            <a:r>
              <a:rPr lang="en-GB" sz="2800" dirty="0"/>
              <a:t>print("After Remove:", numbers)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/>
              <a:t>print("Sorted:", sorted(numbers))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261012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A38CA-9D42-8112-B990-2294883CA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3FFB4F-5760-EB47-A650-4D2B51CA5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85" y="616976"/>
            <a:ext cx="11634115" cy="610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100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8E438-10C3-D9CE-AF1D-9B501A1A5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126532-71F9-601B-3F5E-BAB3D67EF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123" y="563631"/>
            <a:ext cx="10531753" cy="573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5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245F5-D2D2-F1C3-3A6B-81EDE8CA1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155F4F-CADC-62C4-AF2F-4CC34E0E3135}"/>
              </a:ext>
            </a:extLst>
          </p:cNvPr>
          <p:cNvSpPr txBox="1"/>
          <p:nvPr/>
        </p:nvSpPr>
        <p:spPr>
          <a:xfrm>
            <a:off x="757084" y="953730"/>
            <a:ext cx="8386916" cy="4774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b="0" dirty="0">
                <a:effectLst/>
                <a:latin typeface="Consolas" panose="020B0609020204030204" pitchFamily="49" charset="0"/>
              </a:rPr>
              <a:t>numbers=[1,2,3,5]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 err="1">
                <a:effectLst/>
                <a:latin typeface="Consolas" panose="020B0609020204030204" pitchFamily="49" charset="0"/>
              </a:rPr>
              <a:t>Squared_numbers</a:t>
            </a:r>
            <a:r>
              <a:rPr lang="en-GB" b="0" dirty="0">
                <a:effectLst/>
                <a:latin typeface="Consolas" panose="020B0609020204030204" pitchFamily="49" charset="0"/>
              </a:rPr>
              <a:t>={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x:x</a:t>
            </a:r>
            <a:r>
              <a:rPr lang="en-GB" b="0" dirty="0">
                <a:effectLst/>
                <a:latin typeface="Consolas" panose="020B0609020204030204" pitchFamily="49" charset="0"/>
              </a:rPr>
              <a:t>**2 for x in numbers}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effectLst/>
                <a:latin typeface="Consolas" panose="020B0609020204030204" pitchFamily="49" charset="0"/>
              </a:rPr>
              <a:t>print(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Squared_numbers</a:t>
            </a:r>
            <a:r>
              <a:rPr lang="en-GB" b="0" dirty="0"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dirty="0"/>
              <a:t>for key, value in </a:t>
            </a:r>
            <a:r>
              <a:rPr lang="en-GB" dirty="0" err="1">
                <a:latin typeface="Consolas" panose="020B0609020204030204" pitchFamily="49" charset="0"/>
              </a:rPr>
              <a:t>numbers</a:t>
            </a:r>
            <a:r>
              <a:rPr lang="en-GB" dirty="0" err="1"/>
              <a:t>.items</a:t>
            </a:r>
            <a:r>
              <a:rPr lang="en-GB" dirty="0"/>
              <a:t>():</a:t>
            </a:r>
            <a:br>
              <a:rPr lang="en-GB" dirty="0"/>
            </a:br>
            <a:r>
              <a:rPr lang="en-GB" dirty="0"/>
              <a:t>print(key, ":", value)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dirty="0">
                <a:latin typeface="Consolas" panose="020B0609020204030204" pitchFamily="49" charset="0"/>
              </a:rPr>
              <a:t>numbers</a:t>
            </a:r>
            <a:r>
              <a:rPr lang="en-IN" dirty="0"/>
              <a:t>.clear()</a:t>
            </a:r>
            <a:br>
              <a:rPr lang="en-IN" dirty="0"/>
            </a:br>
            <a:r>
              <a:rPr lang="en-IN" dirty="0"/>
              <a:t>print(student)</a:t>
            </a:r>
          </a:p>
          <a:p>
            <a:pPr>
              <a:lnSpc>
                <a:spcPts val="1425"/>
              </a:lnSpc>
              <a:buNone/>
            </a:pP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dirty="0"/>
              <a:t>del </a:t>
            </a:r>
            <a:r>
              <a:rPr lang="en-GB" dirty="0">
                <a:latin typeface="Consolas" panose="020B0609020204030204" pitchFamily="49" charset="0"/>
              </a:rPr>
              <a:t>numbers</a:t>
            </a:r>
            <a:r>
              <a:rPr lang="en-IN" dirty="0"/>
              <a:t>[</a:t>
            </a:r>
            <a:r>
              <a:rPr lang="en-IN" dirty="0" err="1"/>
              <a:t>keyname</a:t>
            </a:r>
            <a:r>
              <a:rPr lang="en-IN" dirty="0"/>
              <a:t>]</a:t>
            </a:r>
            <a:br>
              <a:rPr lang="en-IN" dirty="0"/>
            </a:br>
            <a:r>
              <a:rPr lang="en-IN" dirty="0"/>
              <a:t>print(student)</a:t>
            </a:r>
          </a:p>
          <a:p>
            <a:pPr>
              <a:lnSpc>
                <a:spcPts val="1425"/>
              </a:lnSpc>
              <a:buNone/>
            </a:pP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dirty="0">
                <a:latin typeface="Consolas" panose="020B0609020204030204" pitchFamily="49" charset="0"/>
              </a:rPr>
              <a:t>numbers</a:t>
            </a:r>
            <a:r>
              <a:rPr lang="en-IN" dirty="0"/>
              <a:t>.</a:t>
            </a:r>
            <a:r>
              <a:rPr lang="en-IN" dirty="0" err="1"/>
              <a:t>popitem</a:t>
            </a:r>
            <a:r>
              <a:rPr lang="en-IN" dirty="0"/>
              <a:t>()</a:t>
            </a:r>
            <a:endParaRPr lang="en-GB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144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C9A071-9A51-8847-BB17-C3141BFF8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21044E-9066-0925-E37F-0A92E3AEC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328996"/>
              </p:ext>
            </p:extLst>
          </p:nvPr>
        </p:nvGraphicFramePr>
        <p:xfrm>
          <a:off x="812390" y="1425678"/>
          <a:ext cx="13996218" cy="3725816"/>
        </p:xfrm>
        <a:graphic>
          <a:graphicData uri="http://schemas.openxmlformats.org/drawingml/2006/table">
            <a:tbl>
              <a:tblPr/>
              <a:tblGrid>
                <a:gridCol w="6998109">
                  <a:extLst>
                    <a:ext uri="{9D8B030D-6E8A-4147-A177-3AD203B41FA5}">
                      <a16:colId xmlns:a16="http://schemas.microsoft.com/office/drawing/2014/main" val="3860982038"/>
                    </a:ext>
                  </a:extLst>
                </a:gridCol>
                <a:gridCol w="6998109">
                  <a:extLst>
                    <a:ext uri="{9D8B030D-6E8A-4147-A177-3AD203B41FA5}">
                      <a16:colId xmlns:a16="http://schemas.microsoft.com/office/drawing/2014/main" val="1377750319"/>
                    </a:ext>
                  </a:extLst>
                </a:gridCol>
              </a:tblGrid>
              <a:tr h="465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Mutable / Immutable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021480"/>
                  </a:ext>
                </a:extLst>
              </a:tr>
              <a:tr h="465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String (</a:t>
                      </a:r>
                      <a:r>
                        <a:rPr lang="en-IN" sz="1800" dirty="0"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en-IN" sz="1800" dirty="0"/>
                        <a:t>) :House Address and 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❌ Immutable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213043"/>
                  </a:ext>
                </a:extLst>
              </a:tr>
              <a:tr h="465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Integer (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en-IN" sz="180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❌ Immutable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277636"/>
                  </a:ext>
                </a:extLst>
              </a:tr>
              <a:tr h="465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Float (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en-IN" sz="180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❌ Immutable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212172"/>
                  </a:ext>
                </a:extLst>
              </a:tr>
              <a:tr h="465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Tuple (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tuple</a:t>
                      </a:r>
                      <a:r>
                        <a:rPr lang="en-IN" sz="180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❌ Immutable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578132"/>
                  </a:ext>
                </a:extLst>
              </a:tr>
              <a:tr h="465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List (</a:t>
                      </a:r>
                      <a:r>
                        <a:rPr lang="en-IN" sz="1800" dirty="0">
                          <a:latin typeface="Courier New" panose="02070309020205020404" pitchFamily="49" charset="0"/>
                        </a:rPr>
                        <a:t>list</a:t>
                      </a:r>
                      <a:r>
                        <a:rPr lang="en-IN" sz="18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✅ Mutable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464998"/>
                  </a:ext>
                </a:extLst>
              </a:tr>
              <a:tr h="465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Dictionary (</a:t>
                      </a:r>
                      <a:r>
                        <a:rPr lang="en-IN" sz="1800" dirty="0" err="1">
                          <a:latin typeface="Courier New" panose="02070309020205020404" pitchFamily="49" charset="0"/>
                        </a:rPr>
                        <a:t>dict</a:t>
                      </a:r>
                      <a:r>
                        <a:rPr lang="en-IN" sz="18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✅ Mutable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631875"/>
                  </a:ext>
                </a:extLst>
              </a:tr>
              <a:tr h="465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Set (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set</a:t>
                      </a:r>
                      <a:r>
                        <a:rPr lang="en-IN" sz="180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✅ Mutable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1107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911FC93-E0CF-3B4E-1B38-0B8F53ADC983}"/>
              </a:ext>
            </a:extLst>
          </p:cNvPr>
          <p:cNvSpPr txBox="1"/>
          <p:nvPr/>
        </p:nvSpPr>
        <p:spPr>
          <a:xfrm>
            <a:off x="812390" y="5544771"/>
            <a:ext cx="10567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u="sng" dirty="0"/>
              <a:t>Immutable objects cannot be changed once created, while mutable objects can be modified in place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2843549357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658</TotalTime>
  <Words>544</Words>
  <Application>Microsoft Office PowerPoint</Application>
  <PresentationFormat>Widescreen</PresentationFormat>
  <Paragraphs>64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 Unicode MS</vt:lpstr>
      <vt:lpstr>Calibri Light</vt:lpstr>
      <vt:lpstr>Consolas</vt:lpstr>
      <vt:lpstr>Courier New</vt:lpstr>
      <vt:lpstr>Metropolitan</vt:lpstr>
      <vt:lpstr>Python Object Oriented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 Creation</vt:lpstr>
      <vt:lpstr>Object Creation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kunalagarwal0202@outlook.com</dc:creator>
  <cp:lastModifiedBy>kunalagarwal0202@outlook.com</cp:lastModifiedBy>
  <cp:revision>6</cp:revision>
  <dcterms:created xsi:type="dcterms:W3CDTF">2026-02-28T08:25:43Z</dcterms:created>
  <dcterms:modified xsi:type="dcterms:W3CDTF">2026-02-28T19:29:22Z</dcterms:modified>
</cp:coreProperties>
</file>