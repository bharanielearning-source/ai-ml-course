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4" r:id="rId11"/>
    <p:sldId id="263" r:id="rId12"/>
    <p:sldId id="269" r:id="rId13"/>
    <p:sldId id="272" r:id="rId14"/>
    <p:sldId id="270" r:id="rId15"/>
    <p:sldId id="271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3BE0DD4F-C3E9-419C-A6B1-D97CD63C7BC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193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1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144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340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494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01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48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3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3BE0DD4F-C3E9-419C-A6B1-D97CD63C7BC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854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515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202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0DD4F-C3E9-419C-A6B1-D97CD63C7BC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3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17AD0-A724-BC58-5E19-EBEBE1B531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Python Functions and Strings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4874D-0E15-39F7-3CCC-0B5B73AD63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Kunal Agarwal</a:t>
            </a:r>
          </a:p>
          <a:p>
            <a:r>
              <a:rPr lang="en-GB" dirty="0" err="1"/>
              <a:t>Aideas</a:t>
            </a:r>
            <a:r>
              <a:rPr lang="en-GB" dirty="0"/>
              <a:t> Academy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4278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97633-C083-0CD9-F421-4955A7616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E029753A-6A3F-98E6-DF25-A3C1D7845B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3215" y="254309"/>
            <a:ext cx="9228201" cy="1645920"/>
          </a:xfrm>
        </p:spPr>
        <p:txBody>
          <a:bodyPr/>
          <a:lstStyle/>
          <a:p>
            <a:r>
              <a:rPr lang="en-GB" dirty="0"/>
              <a:t>Terminology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F58D81-E9BA-744B-DF85-8FE59E4CD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09" y="951706"/>
            <a:ext cx="10272650" cy="560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942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9599-316B-6BD4-DEE5-770853504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8579FD00-22C3-FA0B-59F7-3441B39EF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3215" y="254309"/>
            <a:ext cx="9228201" cy="1645920"/>
          </a:xfrm>
        </p:spPr>
        <p:txBody>
          <a:bodyPr/>
          <a:lstStyle/>
          <a:p>
            <a:r>
              <a:rPr lang="en-GB" dirty="0"/>
              <a:t>Concept and core functionality : Reusability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ED2954-F0FE-308B-AB4F-3693EF5B7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51" y="827371"/>
            <a:ext cx="10486029" cy="567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633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751AF-59F2-DB16-ED69-EB4AC0D75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2B070-DFC7-7540-B664-01971D743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</a:t>
            </a:r>
            <a:r>
              <a:rPr lang="en-GB" b="1" dirty="0"/>
              <a:t>function</a:t>
            </a:r>
            <a:r>
              <a:rPr lang="en-GB" dirty="0"/>
              <a:t> is a </a:t>
            </a:r>
            <a:r>
              <a:rPr lang="en-GB" b="1" dirty="0"/>
              <a:t>reusable block of code</a:t>
            </a:r>
            <a:r>
              <a:rPr lang="en-GB" dirty="0"/>
              <a:t> that performs a </a:t>
            </a:r>
            <a:r>
              <a:rPr lang="en-GB" b="1" dirty="0"/>
              <a:t>specific task</a:t>
            </a:r>
            <a:r>
              <a:rPr lang="en-GB" dirty="0"/>
              <a:t> and runs </a:t>
            </a:r>
            <a:r>
              <a:rPr lang="en-GB" b="1" dirty="0"/>
              <a:t>only when called</a:t>
            </a:r>
            <a:r>
              <a:rPr lang="en-GB" dirty="0"/>
              <a:t>.</a:t>
            </a:r>
          </a:p>
          <a:p>
            <a:r>
              <a:rPr lang="en-GB" dirty="0"/>
              <a:t>Functions help in:</a:t>
            </a:r>
          </a:p>
          <a:p>
            <a:r>
              <a:rPr lang="en-GB" dirty="0"/>
              <a:t>Code reusability</a:t>
            </a:r>
          </a:p>
          <a:p>
            <a:r>
              <a:rPr lang="en-GB" dirty="0"/>
              <a:t>Modularity</a:t>
            </a:r>
          </a:p>
          <a:p>
            <a:r>
              <a:rPr lang="en-GB" dirty="0"/>
              <a:t>Readability</a:t>
            </a:r>
          </a:p>
          <a:p>
            <a:r>
              <a:rPr lang="en-GB" dirty="0"/>
              <a:t>Easy maintenance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2907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E33DF-3EC8-A96E-8A10-105449D8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1888737" cy="1761886"/>
          </a:xfrm>
        </p:spPr>
        <p:txBody>
          <a:bodyPr/>
          <a:lstStyle/>
          <a:p>
            <a:r>
              <a:rPr lang="en-GB" dirty="0"/>
              <a:t>Function architecture: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C0F96-C3B5-4D01-7345-3ECFE2B0D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1515344" cy="4025326"/>
          </a:xfrm>
        </p:spPr>
        <p:txBody>
          <a:bodyPr/>
          <a:lstStyle/>
          <a:p>
            <a:r>
              <a:rPr lang="en-GB" dirty="0"/>
              <a:t>def </a:t>
            </a:r>
            <a:r>
              <a:rPr lang="en-GB" dirty="0" err="1"/>
              <a:t>function_name</a:t>
            </a:r>
            <a:r>
              <a:rPr lang="en-GB" dirty="0"/>
              <a:t>(parameters):</a:t>
            </a:r>
            <a:br>
              <a:rPr lang="en-GB" dirty="0"/>
            </a:br>
            <a:r>
              <a:rPr lang="en-GB" dirty="0"/>
              <a:t>"""Optional docstring"""</a:t>
            </a:r>
            <a:br>
              <a:rPr lang="en-GB" dirty="0"/>
            </a:br>
            <a:r>
              <a:rPr lang="en-GB" dirty="0" err="1"/>
              <a:t>function_body</a:t>
            </a:r>
            <a:br>
              <a:rPr lang="en-GB" dirty="0"/>
            </a:br>
            <a:r>
              <a:rPr lang="en-GB" dirty="0"/>
              <a:t>return value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2637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06293-4D70-F952-E2DE-7A188F737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5B37C-AE6F-42A8-EAF6-930D5EA1D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989" y="1012613"/>
            <a:ext cx="11515344" cy="4025326"/>
          </a:xfrm>
        </p:spPr>
        <p:txBody>
          <a:bodyPr/>
          <a:lstStyle/>
          <a:p>
            <a:r>
              <a:rPr lang="en-GB" dirty="0"/>
              <a:t>Default Params:</a:t>
            </a:r>
          </a:p>
          <a:p>
            <a:r>
              <a:rPr lang="en-GB" dirty="0"/>
              <a:t>def greet(name, country="India"):</a:t>
            </a:r>
            <a:br>
              <a:rPr lang="en-GB" dirty="0"/>
            </a:br>
            <a:r>
              <a:rPr lang="en-GB" dirty="0"/>
              <a:t>print(name, country)</a:t>
            </a:r>
          </a:p>
          <a:p>
            <a:endParaRPr lang="en-GB" dirty="0"/>
          </a:p>
          <a:p>
            <a:r>
              <a:rPr lang="en-GB" dirty="0"/>
              <a:t>Variable Length :</a:t>
            </a:r>
          </a:p>
          <a:p>
            <a:r>
              <a:rPr lang="en-GB" dirty="0"/>
              <a:t>def add(*</a:t>
            </a:r>
            <a:r>
              <a:rPr lang="en-GB" dirty="0" err="1"/>
              <a:t>args</a:t>
            </a:r>
            <a:r>
              <a:rPr lang="en-GB" dirty="0"/>
              <a:t>):</a:t>
            </a:r>
            <a:br>
              <a:rPr lang="en-GB" dirty="0"/>
            </a:br>
            <a:r>
              <a:rPr lang="en-GB" dirty="0"/>
              <a:t>return sum(</a:t>
            </a:r>
            <a:r>
              <a:rPr lang="en-GB" dirty="0" err="1"/>
              <a:t>args</a:t>
            </a:r>
            <a:r>
              <a:rPr lang="en-GB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206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EB286-9BBF-EAD4-5A35-DD052DFB7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DBD7AC-9D91-63DA-E2CF-D87E6AE9F6CC}"/>
              </a:ext>
            </a:extLst>
          </p:cNvPr>
          <p:cNvSpPr txBox="1"/>
          <p:nvPr/>
        </p:nvSpPr>
        <p:spPr>
          <a:xfrm>
            <a:off x="220133" y="397934"/>
            <a:ext cx="12242800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500" dirty="0"/>
              <a:t>def </a:t>
            </a:r>
            <a:r>
              <a:rPr lang="en-GB" sz="2500" dirty="0" err="1"/>
              <a:t>fibonacci</a:t>
            </a:r>
            <a:r>
              <a:rPr lang="en-GB" sz="2500" dirty="0"/>
              <a:t>(n):</a:t>
            </a:r>
            <a:br>
              <a:rPr lang="en-GB" sz="2500" dirty="0"/>
            </a:br>
            <a:r>
              <a:rPr lang="en-GB" sz="2500" dirty="0"/>
              <a:t>series = []</a:t>
            </a:r>
            <a:br>
              <a:rPr lang="en-GB" sz="2500" dirty="0"/>
            </a:br>
            <a:r>
              <a:rPr lang="en-GB" sz="2500" dirty="0"/>
              <a:t>a, b = 0, 1</a:t>
            </a:r>
            <a:br>
              <a:rPr lang="en-GB" sz="2500" dirty="0"/>
            </a:br>
            <a:r>
              <a:rPr lang="en-GB" sz="2500" dirty="0"/>
              <a:t>for _ in range(n):</a:t>
            </a:r>
            <a:br>
              <a:rPr lang="en-GB" sz="2500" dirty="0"/>
            </a:br>
            <a:r>
              <a:rPr lang="en-GB" sz="2500" dirty="0" err="1"/>
              <a:t>series.append</a:t>
            </a:r>
            <a:r>
              <a:rPr lang="en-GB" sz="2500" dirty="0"/>
              <a:t>(a)</a:t>
            </a:r>
            <a:br>
              <a:rPr lang="en-GB" sz="2500" dirty="0"/>
            </a:br>
            <a:r>
              <a:rPr lang="en-GB" sz="2500" dirty="0"/>
              <a:t>a, b = b, a + b</a:t>
            </a:r>
            <a:br>
              <a:rPr lang="en-GB" sz="2500" dirty="0"/>
            </a:br>
            <a:r>
              <a:rPr lang="en-GB" sz="2500" dirty="0"/>
              <a:t>return series</a:t>
            </a:r>
          </a:p>
          <a:p>
            <a:endParaRPr lang="en-GB" sz="2500" dirty="0"/>
          </a:p>
          <a:p>
            <a:r>
              <a:rPr lang="en-GB" sz="2500" dirty="0"/>
              <a:t>1,1,2,3,5,8,13,21,34,55…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1291270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7A33A-822E-5D2A-934A-FF1BA80DB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970EA2-E8B4-035A-5516-C6627DEBCD65}"/>
              </a:ext>
            </a:extLst>
          </p:cNvPr>
          <p:cNvSpPr txBox="1"/>
          <p:nvPr/>
        </p:nvSpPr>
        <p:spPr>
          <a:xfrm>
            <a:off x="220133" y="397934"/>
            <a:ext cx="122428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def calculator(a, b, operation):</a:t>
            </a:r>
            <a:br>
              <a:rPr lang="en-GB" sz="2800" dirty="0"/>
            </a:br>
            <a:r>
              <a:rPr lang="en-GB" sz="2800" dirty="0"/>
              <a:t>if operation == "add":</a:t>
            </a:r>
            <a:br>
              <a:rPr lang="en-GB" sz="2800" dirty="0"/>
            </a:br>
            <a:r>
              <a:rPr lang="en-GB" sz="2800" dirty="0"/>
              <a:t>return a + b</a:t>
            </a:r>
            <a:br>
              <a:rPr lang="en-GB" sz="2800" dirty="0"/>
            </a:br>
            <a:r>
              <a:rPr lang="en-GB" sz="2800" dirty="0" err="1"/>
              <a:t>elif</a:t>
            </a:r>
            <a:r>
              <a:rPr lang="en-GB" sz="2800" dirty="0"/>
              <a:t> operation == "sub":</a:t>
            </a:r>
            <a:br>
              <a:rPr lang="en-GB" sz="2800" dirty="0"/>
            </a:br>
            <a:r>
              <a:rPr lang="en-GB" sz="2800" dirty="0"/>
              <a:t>return a - b</a:t>
            </a:r>
            <a:br>
              <a:rPr lang="en-GB" sz="2800" dirty="0"/>
            </a:br>
            <a:r>
              <a:rPr lang="en-GB" sz="2800" dirty="0" err="1"/>
              <a:t>elif</a:t>
            </a:r>
            <a:r>
              <a:rPr lang="en-GB" sz="2800" dirty="0"/>
              <a:t> operation == "</a:t>
            </a:r>
            <a:r>
              <a:rPr lang="en-GB" sz="2800" dirty="0" err="1"/>
              <a:t>mul</a:t>
            </a:r>
            <a:r>
              <a:rPr lang="en-GB" sz="2800" dirty="0"/>
              <a:t>":</a:t>
            </a:r>
            <a:br>
              <a:rPr lang="en-GB" sz="2800" dirty="0"/>
            </a:br>
            <a:r>
              <a:rPr lang="en-GB" sz="2800" dirty="0"/>
              <a:t>return a * b</a:t>
            </a:r>
            <a:br>
              <a:rPr lang="en-GB" sz="2800" dirty="0"/>
            </a:br>
            <a:r>
              <a:rPr lang="en-GB" sz="2800" dirty="0" err="1"/>
              <a:t>elif</a:t>
            </a:r>
            <a:r>
              <a:rPr lang="en-GB" sz="2800" dirty="0"/>
              <a:t> operation == "div":</a:t>
            </a:r>
            <a:br>
              <a:rPr lang="en-GB" sz="2800" dirty="0"/>
            </a:br>
            <a:r>
              <a:rPr lang="en-GB" sz="2800" dirty="0"/>
              <a:t>return a / b if b != 0 else "Cannot divide by zero"</a:t>
            </a:r>
            <a:br>
              <a:rPr lang="en-GB" sz="2800" dirty="0"/>
            </a:br>
            <a:r>
              <a:rPr lang="en-GB" sz="2800" dirty="0"/>
              <a:t>else:</a:t>
            </a:r>
            <a:br>
              <a:rPr lang="en-GB" sz="2800" dirty="0"/>
            </a:br>
            <a:r>
              <a:rPr lang="en-GB" sz="2800" dirty="0"/>
              <a:t>return "Invalid operation"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3822001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E7656-5A04-B7FD-3EE7-1DE3ED360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150398-B33C-9FAD-3838-CB1801E8952C}"/>
              </a:ext>
            </a:extLst>
          </p:cNvPr>
          <p:cNvSpPr txBox="1"/>
          <p:nvPr/>
        </p:nvSpPr>
        <p:spPr>
          <a:xfrm>
            <a:off x="220133" y="397934"/>
            <a:ext cx="122428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def </a:t>
            </a:r>
            <a:r>
              <a:rPr lang="en-GB" sz="2800" dirty="0" err="1"/>
              <a:t>is_palindrome</a:t>
            </a:r>
            <a:r>
              <a:rPr lang="en-GB" sz="2800" dirty="0"/>
              <a:t>(value):</a:t>
            </a:r>
            <a:br>
              <a:rPr lang="en-GB" sz="2800" dirty="0"/>
            </a:br>
            <a:r>
              <a:rPr lang="en-GB" sz="2800" dirty="0"/>
              <a:t>value = str(value)</a:t>
            </a:r>
            <a:br>
              <a:rPr lang="en-GB" sz="2800" dirty="0"/>
            </a:br>
            <a:r>
              <a:rPr lang="en-GB" sz="2800" dirty="0"/>
              <a:t>return value == value[::-1]</a:t>
            </a:r>
          </a:p>
          <a:p>
            <a:endParaRPr lang="en-GB" sz="2800" dirty="0"/>
          </a:p>
          <a:p>
            <a:endParaRPr lang="en-GB" sz="2800" dirty="0"/>
          </a:p>
          <a:p>
            <a:r>
              <a:rPr lang="en-IN" sz="2800" dirty="0"/>
              <a:t>print(</a:t>
            </a:r>
            <a:r>
              <a:rPr lang="en-IN" sz="2800" dirty="0" err="1"/>
              <a:t>is_palindrome</a:t>
            </a:r>
            <a:r>
              <a:rPr lang="en-IN" sz="2800" dirty="0"/>
              <a:t>("madam"))</a:t>
            </a:r>
            <a:br>
              <a:rPr lang="en-IN" sz="2800" dirty="0"/>
            </a:br>
            <a:r>
              <a:rPr lang="en-IN" sz="2800" dirty="0"/>
              <a:t>print(</a:t>
            </a:r>
            <a:r>
              <a:rPr lang="en-IN" sz="2800" dirty="0" err="1"/>
              <a:t>is_palindrome</a:t>
            </a:r>
            <a:r>
              <a:rPr lang="en-IN" sz="2800" dirty="0"/>
              <a:t>(121))</a:t>
            </a:r>
            <a:br>
              <a:rPr lang="en-IN" sz="2800" dirty="0"/>
            </a:br>
            <a:r>
              <a:rPr lang="en-IN" sz="2800" dirty="0"/>
              <a:t>print(</a:t>
            </a:r>
            <a:r>
              <a:rPr lang="en-IN" sz="2800" dirty="0" err="1"/>
              <a:t>is_palindrome</a:t>
            </a:r>
            <a:r>
              <a:rPr lang="en-IN" sz="2800" dirty="0"/>
              <a:t>("python"))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1945309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D998A-41E4-30B8-A24F-546022CB2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1BF675-2FDC-8222-BFF2-BA981CBE4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192" y="540769"/>
            <a:ext cx="10333615" cy="577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81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11379-472E-E01D-8955-658A90863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92BDD2-896C-0C31-305F-3B9A0D668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46" y="582683"/>
            <a:ext cx="11011485" cy="601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988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FEC4F-C15E-B612-7F15-7A1C1C142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C53E01-2ADE-FC00-4887-F284B11C8BFF}"/>
              </a:ext>
            </a:extLst>
          </p:cNvPr>
          <p:cNvSpPr txBox="1"/>
          <p:nvPr/>
        </p:nvSpPr>
        <p:spPr>
          <a:xfrm>
            <a:off x="273353" y="131596"/>
            <a:ext cx="12242800" cy="6509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text = "python"</a:t>
            </a:r>
            <a:br>
              <a:rPr lang="en-IN" sz="2800" dirty="0"/>
            </a:br>
            <a:r>
              <a:rPr lang="en-IN" sz="2800" dirty="0"/>
              <a:t>print(</a:t>
            </a:r>
            <a:r>
              <a:rPr lang="en-IN" sz="2800" dirty="0" err="1"/>
              <a:t>text.upper</a:t>
            </a:r>
            <a:r>
              <a:rPr lang="en-IN" sz="2800" dirty="0"/>
              <a:t>())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r>
              <a:rPr lang="en-GB" sz="2800" dirty="0"/>
              <a:t>text = "PYTHON"</a:t>
            </a:r>
            <a:br>
              <a:rPr lang="en-GB" sz="2800" dirty="0"/>
            </a:br>
            <a:r>
              <a:rPr lang="en-GB" sz="2800" dirty="0"/>
              <a:t>print(</a:t>
            </a:r>
            <a:r>
              <a:rPr lang="en-GB" sz="2800" dirty="0" err="1"/>
              <a:t>text.lower</a:t>
            </a:r>
            <a:r>
              <a:rPr lang="en-GB" sz="2800" dirty="0"/>
              <a:t>())</a:t>
            </a:r>
          </a:p>
          <a:p>
            <a:endParaRPr lang="en-GB" sz="2800" dirty="0"/>
          </a:p>
          <a:p>
            <a:endParaRPr lang="en-GB" sz="2800" dirty="0"/>
          </a:p>
          <a:p>
            <a:r>
              <a:rPr lang="en-GB" sz="2800" dirty="0"/>
              <a:t>text = "python programming"</a:t>
            </a:r>
            <a:br>
              <a:rPr lang="en-GB" sz="2800" dirty="0"/>
            </a:br>
            <a:r>
              <a:rPr lang="en-GB" sz="2800" dirty="0"/>
              <a:t>print(</a:t>
            </a:r>
            <a:r>
              <a:rPr lang="en-GB" sz="2800" dirty="0" err="1"/>
              <a:t>text.capitalize</a:t>
            </a:r>
            <a:r>
              <a:rPr lang="en-GB" sz="2800" dirty="0"/>
              <a:t>())</a:t>
            </a:r>
          </a:p>
          <a:p>
            <a:endParaRPr lang="en-GB" sz="2800" dirty="0"/>
          </a:p>
          <a:p>
            <a:r>
              <a:rPr lang="en-GB" sz="2800" dirty="0"/>
              <a:t>text = "python programming"</a:t>
            </a:r>
            <a:br>
              <a:rPr lang="en-GB" sz="2800" dirty="0"/>
            </a:br>
            <a:r>
              <a:rPr lang="en-GB" sz="2800" dirty="0"/>
              <a:t>print(</a:t>
            </a:r>
            <a:r>
              <a:rPr lang="en-GB" sz="2800" dirty="0" err="1"/>
              <a:t>text.title</a:t>
            </a:r>
            <a:r>
              <a:rPr lang="en-GB" sz="2800" dirty="0"/>
              <a:t>())</a:t>
            </a:r>
          </a:p>
          <a:p>
            <a:endParaRPr lang="en-IN" sz="2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ED04BE-BF63-0F9A-6EA3-6A1909B21B2B}"/>
              </a:ext>
            </a:extLst>
          </p:cNvPr>
          <p:cNvSpPr txBox="1"/>
          <p:nvPr/>
        </p:nvSpPr>
        <p:spPr>
          <a:xfrm>
            <a:off x="5116286" y="216930"/>
            <a:ext cx="12242800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text = " hello "</a:t>
            </a:r>
            <a:br>
              <a:rPr lang="en-GB" sz="2800" dirty="0"/>
            </a:br>
            <a:r>
              <a:rPr lang="en-GB" sz="2800" dirty="0"/>
              <a:t>print(</a:t>
            </a:r>
            <a:r>
              <a:rPr lang="en-GB" sz="2800" dirty="0" err="1"/>
              <a:t>text.strip</a:t>
            </a:r>
            <a:r>
              <a:rPr lang="en-GB" sz="2800" dirty="0"/>
              <a:t>())</a:t>
            </a:r>
          </a:p>
          <a:p>
            <a:endParaRPr lang="en-GB" sz="2800" dirty="0"/>
          </a:p>
          <a:p>
            <a:endParaRPr lang="en-GB" sz="2800" dirty="0"/>
          </a:p>
          <a:p>
            <a:r>
              <a:rPr lang="en-IN" sz="2800" dirty="0"/>
              <a:t>text = "I like Java"</a:t>
            </a:r>
            <a:br>
              <a:rPr lang="en-IN" sz="2800" dirty="0"/>
            </a:br>
            <a:r>
              <a:rPr lang="en-IN" sz="2800" dirty="0"/>
              <a:t>print(</a:t>
            </a:r>
            <a:r>
              <a:rPr lang="en-IN" sz="2800" dirty="0" err="1"/>
              <a:t>text.replace</a:t>
            </a:r>
            <a:r>
              <a:rPr lang="en-IN" sz="2800" dirty="0"/>
              <a:t>("Java", "Python"))</a:t>
            </a:r>
          </a:p>
          <a:p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2116752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C369A-0682-8489-9C3A-57477251E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4E1B24-18FE-D301-A47C-23919D26E778}"/>
              </a:ext>
            </a:extLst>
          </p:cNvPr>
          <p:cNvSpPr txBox="1"/>
          <p:nvPr/>
        </p:nvSpPr>
        <p:spPr>
          <a:xfrm>
            <a:off x="273353" y="131596"/>
            <a:ext cx="122428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import string</a:t>
            </a:r>
            <a:br>
              <a:rPr lang="en-IN" sz="2800" dirty="0"/>
            </a:br>
            <a:br>
              <a:rPr lang="en-IN" sz="2800" dirty="0"/>
            </a:br>
            <a:r>
              <a:rPr lang="en-IN" sz="2800" dirty="0" err="1"/>
              <a:t>ch</a:t>
            </a:r>
            <a:r>
              <a:rPr lang="en-IN" sz="2800" dirty="0"/>
              <a:t> = input("Enter a character: ")</a:t>
            </a:r>
            <a:br>
              <a:rPr lang="en-IN" sz="2800" dirty="0"/>
            </a:br>
            <a:br>
              <a:rPr lang="en-IN" sz="2800" dirty="0"/>
            </a:br>
            <a:r>
              <a:rPr lang="en-IN" sz="2800" dirty="0"/>
              <a:t>if </a:t>
            </a:r>
            <a:r>
              <a:rPr lang="en-IN" sz="2800" dirty="0" err="1"/>
              <a:t>ch</a:t>
            </a:r>
            <a:r>
              <a:rPr lang="en-IN" sz="2800" dirty="0"/>
              <a:t> in </a:t>
            </a:r>
            <a:r>
              <a:rPr lang="en-IN" sz="2800" dirty="0" err="1"/>
              <a:t>string.ascii_letters</a:t>
            </a:r>
            <a:r>
              <a:rPr lang="en-IN" sz="2800" dirty="0"/>
              <a:t>:</a:t>
            </a:r>
            <a:br>
              <a:rPr lang="en-IN" sz="2800" dirty="0"/>
            </a:br>
            <a:r>
              <a:rPr lang="en-IN" sz="2800" dirty="0"/>
              <a:t>print("It is an alphabet.")</a:t>
            </a:r>
            <a:br>
              <a:rPr lang="en-IN" sz="2800" dirty="0"/>
            </a:br>
            <a:r>
              <a:rPr lang="en-IN" sz="2800" dirty="0"/>
              <a:t>else:</a:t>
            </a:r>
            <a:br>
              <a:rPr lang="en-IN" sz="2800" dirty="0"/>
            </a:br>
            <a:r>
              <a:rPr lang="en-IN" sz="2800" dirty="0"/>
              <a:t>print("It is not an alphabet.")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799169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E630E-9388-443D-0C71-80B90AAC3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36B0C6-4ADB-AF15-E75A-AC0B09913C5F}"/>
              </a:ext>
            </a:extLst>
          </p:cNvPr>
          <p:cNvSpPr txBox="1"/>
          <p:nvPr/>
        </p:nvSpPr>
        <p:spPr>
          <a:xfrm>
            <a:off x="273353" y="131596"/>
            <a:ext cx="12242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import string</a:t>
            </a:r>
          </a:p>
          <a:p>
            <a:r>
              <a:rPr lang="en-IN" sz="2800" dirty="0"/>
              <a:t>import random</a:t>
            </a:r>
          </a:p>
          <a:p>
            <a:endParaRPr lang="en-IN" sz="2800" dirty="0"/>
          </a:p>
          <a:p>
            <a:r>
              <a:rPr lang="en-IN" sz="2800" dirty="0"/>
              <a:t>password = ""</a:t>
            </a:r>
          </a:p>
          <a:p>
            <a:endParaRPr lang="en-IN" sz="2800" dirty="0"/>
          </a:p>
          <a:p>
            <a:r>
              <a:rPr lang="en-IN" sz="2800" dirty="0"/>
              <a:t>for </a:t>
            </a:r>
            <a:r>
              <a:rPr lang="en-IN" sz="2800" dirty="0" err="1"/>
              <a:t>i</a:t>
            </a:r>
            <a:r>
              <a:rPr lang="en-IN" sz="2800" dirty="0"/>
              <a:t> in range(8):</a:t>
            </a:r>
          </a:p>
          <a:p>
            <a:r>
              <a:rPr lang="en-IN" sz="2800" dirty="0"/>
              <a:t>    password += </a:t>
            </a:r>
            <a:r>
              <a:rPr lang="en-IN" sz="2800" dirty="0" err="1"/>
              <a:t>random.choice</a:t>
            </a:r>
            <a:r>
              <a:rPr lang="en-IN" sz="2800" dirty="0"/>
              <a:t>(</a:t>
            </a:r>
            <a:r>
              <a:rPr lang="en-IN" sz="2800" dirty="0" err="1"/>
              <a:t>string.ascii_letters</a:t>
            </a:r>
            <a:r>
              <a:rPr lang="en-IN" sz="2800" dirty="0"/>
              <a:t>)</a:t>
            </a:r>
          </a:p>
          <a:p>
            <a:endParaRPr lang="en-IN" sz="2800" dirty="0"/>
          </a:p>
          <a:p>
            <a:r>
              <a:rPr lang="en-IN" sz="2800" dirty="0"/>
              <a:t>print(password)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1668227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7D955-8CF3-7C93-5760-B15A1FF49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7A5C86-CD31-B44B-38C3-B22F096EB2DF}"/>
              </a:ext>
            </a:extLst>
          </p:cNvPr>
          <p:cNvSpPr txBox="1"/>
          <p:nvPr/>
        </p:nvSpPr>
        <p:spPr>
          <a:xfrm>
            <a:off x="273353" y="131596"/>
            <a:ext cx="122428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import string</a:t>
            </a:r>
          </a:p>
          <a:p>
            <a:endParaRPr lang="en-GB" sz="2800" dirty="0"/>
          </a:p>
          <a:p>
            <a:r>
              <a:rPr lang="en-GB" sz="2800" dirty="0"/>
              <a:t>text = "Hello123@World"</a:t>
            </a:r>
          </a:p>
          <a:p>
            <a:endParaRPr lang="en-GB" sz="2800" dirty="0"/>
          </a:p>
          <a:p>
            <a:r>
              <a:rPr lang="en-GB" sz="2800" dirty="0"/>
              <a:t>count = 0</a:t>
            </a:r>
          </a:p>
          <a:p>
            <a:endParaRPr lang="en-GB" sz="2800" dirty="0"/>
          </a:p>
          <a:p>
            <a:r>
              <a:rPr lang="en-GB" sz="2800" dirty="0"/>
              <a:t>for ch in text: </a:t>
            </a:r>
          </a:p>
          <a:p>
            <a:r>
              <a:rPr lang="en-GB" sz="2800" dirty="0"/>
              <a:t>    if </a:t>
            </a:r>
            <a:r>
              <a:rPr lang="en-GB" sz="2800" dirty="0" err="1"/>
              <a:t>ch</a:t>
            </a:r>
            <a:r>
              <a:rPr lang="en-GB" sz="2800" dirty="0"/>
              <a:t> in </a:t>
            </a:r>
            <a:r>
              <a:rPr lang="en-GB" sz="2800" dirty="0" err="1"/>
              <a:t>string.ascii_letters</a:t>
            </a:r>
            <a:r>
              <a:rPr lang="en-GB" sz="2800" dirty="0"/>
              <a:t>:</a:t>
            </a:r>
          </a:p>
          <a:p>
            <a:r>
              <a:rPr lang="en-GB" sz="2800" dirty="0"/>
              <a:t>        count += 1 // count=count+1</a:t>
            </a:r>
          </a:p>
          <a:p>
            <a:endParaRPr lang="en-GB" sz="2800" dirty="0"/>
          </a:p>
          <a:p>
            <a:r>
              <a:rPr lang="en-GB" sz="2800" dirty="0"/>
              <a:t>print("Letters =", count)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3353181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4B8B7-2AA8-B00E-16CB-1745FAC2A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4CBDCE5-81B5-3F3D-487B-D5282E5B0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634871"/>
              </p:ext>
            </p:extLst>
          </p:nvPr>
        </p:nvGraphicFramePr>
        <p:xfrm>
          <a:off x="552097" y="1155983"/>
          <a:ext cx="10753725" cy="3355322"/>
        </p:xfrm>
        <a:graphic>
          <a:graphicData uri="http://schemas.openxmlformats.org/drawingml/2006/table">
            <a:tbl>
              <a:tblPr/>
              <a:tblGrid>
                <a:gridCol w="3584575">
                  <a:extLst>
                    <a:ext uri="{9D8B030D-6E8A-4147-A177-3AD203B41FA5}">
                      <a16:colId xmlns:a16="http://schemas.microsoft.com/office/drawing/2014/main" val="3368822976"/>
                    </a:ext>
                  </a:extLst>
                </a:gridCol>
                <a:gridCol w="3584575">
                  <a:extLst>
                    <a:ext uri="{9D8B030D-6E8A-4147-A177-3AD203B41FA5}">
                      <a16:colId xmlns:a16="http://schemas.microsoft.com/office/drawing/2014/main" val="1140961984"/>
                    </a:ext>
                  </a:extLst>
                </a:gridCol>
                <a:gridCol w="3584575">
                  <a:extLst>
                    <a:ext uri="{9D8B030D-6E8A-4147-A177-3AD203B41FA5}">
                      <a16:colId xmlns:a16="http://schemas.microsoft.com/office/drawing/2014/main" val="3842467788"/>
                    </a:ext>
                  </a:extLst>
                </a:gridCol>
              </a:tblGrid>
              <a:tr h="795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Constant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801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string.ascii_lowercase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Lowercase letters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abcdefghijklmnopqrstuvwxyz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03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string.ascii_uppercase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Uppercase letters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ABCDEFGHIJKLMNOPQRSTUVWXYZ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077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string.ascii_letters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Lowercase + Uppercase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abcdefghijklmnopqrstuvwxyzABCDEFGHIJKLMNOPQRSTUVWXYZ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992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string.digits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Digits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0123456789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840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1034605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5043</TotalTime>
  <Words>505</Words>
  <Application>Microsoft Office PowerPoint</Application>
  <PresentationFormat>Widescreen</PresentationFormat>
  <Paragraphs>77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 Light</vt:lpstr>
      <vt:lpstr>Courier New</vt:lpstr>
      <vt:lpstr>Metropolitan</vt:lpstr>
      <vt:lpstr>Python Functions and Strings</vt:lpstr>
      <vt:lpstr>PowerPoint Presentation</vt:lpstr>
      <vt:lpstr>PowerPoint Presentation</vt:lpstr>
      <vt:lpstr>Function</vt:lpstr>
      <vt:lpstr>Function architecture: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kunalagarwal0202@outlook.com</dc:creator>
  <cp:lastModifiedBy>kunalagarwal0202@outlook.com</cp:lastModifiedBy>
  <cp:revision>6</cp:revision>
  <dcterms:created xsi:type="dcterms:W3CDTF">2026-02-28T08:25:43Z</dcterms:created>
  <dcterms:modified xsi:type="dcterms:W3CDTF">2026-07-22T06:48:23Z</dcterms:modified>
</cp:coreProperties>
</file>